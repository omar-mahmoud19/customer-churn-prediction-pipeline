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1" r:id="rId2"/>
    <p:sldId id="265" r:id="rId3"/>
    <p:sldId id="268" r:id="rId4"/>
    <p:sldId id="269" r:id="rId5"/>
    <p:sldId id="270" r:id="rId6"/>
    <p:sldId id="271" r:id="rId7"/>
    <p:sldId id="262" r:id="rId8"/>
    <p:sldId id="272" r:id="rId9"/>
    <p:sldId id="273" r:id="rId10"/>
    <p:sldId id="267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hyperlink" Target="https://customer-churn-prediction-pipeline.streamlit.app/" TargetMode="Externa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roo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11" name="bg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C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opbar"/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bottombar"/>
          <p:cNvSpPr>
            <a:spLocks noGrp="1"/>
          </p:cNvSpPr>
          <p:nvPr/>
        </p:nvSpPr>
        <p:spPr>
          <a:xfrm>
            <a:off x="0" y="5486400"/>
            <a:ext cx="12192000" cy="1371600"/>
          </a:xfrm>
          <a:prstGeom prst="rect">
            <a:avLst/>
          </a:prstGeom>
          <a:solidFill>
            <a:srgbClr val="0FAB7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b20"/>
          <p:cNvSpPr txBox="1">
            <a:spLocks noGrp="1"/>
          </p:cNvSpPr>
          <p:nvPr/>
        </p:nvSpPr>
        <p:spPr>
          <a:xfrm>
            <a:off x="457200" y="1143000"/>
            <a:ext cx="11277600" cy="12573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ctr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4400" b="1" dirty="0">
                <a:solidFill>
                  <a:srgbClr val="047954"/>
                </a:solidFill>
              </a:rPr>
              <a:t>Customer Churn Prediction</a:t>
            </a:r>
          </a:p>
        </p:txBody>
      </p:sp>
      <p:sp>
        <p:nvSpPr>
          <p:cNvPr id="21" name="tb21"/>
          <p:cNvSpPr txBox="1">
            <a:spLocks noGrp="1"/>
          </p:cNvSpPr>
          <p:nvPr/>
        </p:nvSpPr>
        <p:spPr>
          <a:xfrm>
            <a:off x="457200" y="24003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ctr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2000" dirty="0">
                <a:solidFill>
                  <a:srgbClr val="336EA8"/>
                </a:solidFill>
              </a:rPr>
              <a:t>An End-to-End Machine Learning Solution for Telecom Customer Retention</a:t>
            </a:r>
          </a:p>
        </p:txBody>
      </p:sp>
      <p:sp>
        <p:nvSpPr>
          <p:cNvPr id="22" name="tb22"/>
          <p:cNvSpPr txBox="1">
            <a:spLocks noGrp="1"/>
          </p:cNvSpPr>
          <p:nvPr/>
        </p:nvSpPr>
        <p:spPr>
          <a:xfrm>
            <a:off x="457200" y="3200400"/>
            <a:ext cx="1127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ctr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0FAB7D"/>
                </a:solidFill>
              </a:rPr>
              <a:t>_______________________________________________</a:t>
            </a:r>
          </a:p>
        </p:txBody>
      </p:sp>
      <p:sp>
        <p:nvSpPr>
          <p:cNvPr id="23" name="tb23"/>
          <p:cNvSpPr txBox="1">
            <a:spLocks noGrp="1"/>
          </p:cNvSpPr>
          <p:nvPr/>
        </p:nvSpPr>
        <p:spPr>
          <a:xfrm>
            <a:off x="457200" y="3771600"/>
            <a:ext cx="11277600" cy="12573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ctr">
              <a:lnSpc>
                <a:spcPct val="115000"/>
              </a:lnSpc>
              <a:spcBef>
                <a:spcPts val="200"/>
              </a:spcBef>
            </a:pPr>
            <a:r>
              <a:rPr lang="en-US" sz="16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Presenter's Name: 5aliha 3la Allah Team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</a:pPr>
            <a:r>
              <a:rPr lang="en-US" sz="1600" dirty="0">
                <a:solidFill>
                  <a:srgbClr val="0D0D0D"/>
                </a:solidFill>
              </a:rPr>
              <a:t>Date : 9 July 2026</a:t>
            </a:r>
            <a:endParaRPr lang="en-US" sz="1600" dirty="0">
              <a:solidFill>
                <a:srgbClr val="333333"/>
              </a:solidFill>
            </a:endParaRPr>
          </a:p>
          <a:p>
            <a:pPr algn="ctr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666666"/>
                </a:solidFill>
              </a:rPr>
              <a:t>DEPI Final Project  |  </a:t>
            </a:r>
            <a:r>
              <a:rPr lang="en-US" dirty="0">
                <a:solidFill>
                  <a:srgbClr val="666666"/>
                </a:solidFill>
              </a:rPr>
              <a:t>AI &amp; Data science</a:t>
            </a:r>
            <a:r>
              <a:rPr lang="en-US" sz="1400" dirty="0">
                <a:solidFill>
                  <a:srgbClr val="666666"/>
                </a:solidFill>
              </a:rPr>
              <a:t> Track Microsoft data engineering |  July 2026</a:t>
            </a:r>
          </a:p>
        </p:txBody>
      </p:sp>
      <p:sp>
        <p:nvSpPr>
          <p:cNvPr id="24" name="tb24"/>
          <p:cNvSpPr txBox="1">
            <a:spLocks noGrp="1"/>
          </p:cNvSpPr>
          <p:nvPr/>
        </p:nvSpPr>
        <p:spPr>
          <a:xfrm>
            <a:off x="457200" y="5486400"/>
            <a:ext cx="11277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ctr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Powered by LightGBM  ·  999,999 Customers  ·  Streamlit Dashboard</a:t>
            </a:r>
          </a:p>
        </p:txBody>
      </p:sp>
      <p:pic>
        <p:nvPicPr>
          <p:cNvPr id="3" name="Google Shape;110;p1">
            <a:extLst>
              <a:ext uri="{FF2B5EF4-FFF2-40B4-BE49-F238E27FC236}">
                <a16:creationId xmlns:a16="http://schemas.microsoft.com/office/drawing/2014/main" id="{F2854749-3479-9878-54DF-017B57A9EC8C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4576887" y="4846337"/>
            <a:ext cx="1362250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2EC54D-A8E2-61D2-080D-CF90AB6CF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864" y="4715652"/>
            <a:ext cx="680336" cy="6264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roo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cover_left_logo"/>
          <p:cNvSpPr>
            <a:spLocks noGrp="1"/>
          </p:cNvSpPr>
          <p:nvPr/>
        </p:nvSpPr>
        <p:spPr>
          <a:xfrm>
            <a:off x="0" y="0"/>
            <a:ext cx="2000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6" name="cover_right_logo"/>
          <p:cNvSpPr>
            <a:spLocks noGrp="1"/>
          </p:cNvSpPr>
          <p:nvPr/>
        </p:nvSpPr>
        <p:spPr>
          <a:xfrm>
            <a:off x="10600000" y="0"/>
            <a:ext cx="1600000" cy="1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9" name="logo_cover"/>
          <p:cNvSpPr>
            <a:spLocks noGrp="1"/>
          </p:cNvSpPr>
          <p:nvPr/>
        </p:nvSpPr>
        <p:spPr>
          <a:xfrm>
            <a:off x="0" y="685800"/>
            <a:ext cx="30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1" name="header_bar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txBody>
          <a:bodyPr wrap="square" lIns="457200" tIns="91440" anchor="ctr">
            <a:no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 Idea</a:t>
            </a:r>
          </a:p>
        </p:txBody>
      </p:sp>
      <p:sp>
        <p:nvSpPr>
          <p:cNvPr id="30" name="tb30"/>
          <p:cNvSpPr txBox="1">
            <a:spLocks noGrp="1"/>
          </p:cNvSpPr>
          <p:nvPr/>
        </p:nvSpPr>
        <p:spPr>
          <a:xfrm>
            <a:off x="457200" y="800000"/>
            <a:ext cx="56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2200" b="1" dirty="0">
                <a:solidFill>
                  <a:srgbClr val="047954"/>
                </a:solidFill>
              </a:rPr>
              <a:t>The Problem</a:t>
            </a:r>
          </a:p>
        </p:txBody>
      </p:sp>
      <p:sp>
        <p:nvSpPr>
          <p:cNvPr id="31" name="tb31"/>
          <p:cNvSpPr txBox="1">
            <a:spLocks noGrp="1"/>
          </p:cNvSpPr>
          <p:nvPr/>
        </p:nvSpPr>
        <p:spPr>
          <a:xfrm>
            <a:off x="457200" y="1300000"/>
            <a:ext cx="5400000" cy="4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500" dirty="0">
                <a:solidFill>
                  <a:srgbClr val="444444"/>
                </a:solidFill>
              </a:rPr>
              <a:t>Customer churn costs telecom companies millions annually. Identifying at-risk customers before they leave is critical for business survival.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</a:rPr>
              <a:t> 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2000" b="1" dirty="0">
                <a:solidFill>
                  <a:srgbClr val="047954"/>
                </a:solidFill>
              </a:rPr>
              <a:t>Our Solution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500" dirty="0">
                <a:solidFill>
                  <a:srgbClr val="444444"/>
                </a:solidFill>
              </a:rPr>
              <a:t>A complete ML pipeline that predicts which customers will churn, giving the business time to intervene with targeted retention strategies.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</a:rPr>
              <a:t> 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2000" b="1" dirty="0">
                <a:solidFill>
                  <a:srgbClr val="047954"/>
                </a:solidFill>
              </a:rPr>
              <a:t>Unique Value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500" dirty="0">
                <a:solidFill>
                  <a:srgbClr val="444444"/>
                </a:solidFill>
              </a:rPr>
              <a:t>End-to-end: from raw data to a live Streamlit dashboard. Real predictions on 1 million customers with explainable risk factors.</a:t>
            </a:r>
          </a:p>
        </p:txBody>
      </p:sp>
      <p:sp>
        <p:nvSpPr>
          <p:cNvPr id="40" name="stat40"/>
          <p:cNvSpPr txBox="1">
            <a:spLocks noGrp="1"/>
          </p:cNvSpPr>
          <p:nvPr/>
        </p:nvSpPr>
        <p:spPr>
          <a:xfrm>
            <a:off x="6400000" y="900000"/>
            <a:ext cx="2400000" cy="1200000"/>
          </a:xfrm>
          <a:prstGeom prst="roundRect">
            <a:avLst>
              <a:gd name="adj" fmla="val 3000"/>
            </a:avLst>
          </a:prstGeom>
          <a:solidFill>
            <a:srgbClr val="047954"/>
          </a:solidFill>
          <a:ln>
            <a:noFill/>
          </a:ln>
        </p:spPr>
        <p:txBody>
          <a:bodyPr wrap="square" lIns="91440" tIns="182880" rIns="91440" bIns="91440" anchor="ctr">
            <a:no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9.9%</a:t>
            </a:r>
          </a:p>
          <a:p>
            <a:pPr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Churn Rate</a:t>
            </a:r>
          </a:p>
        </p:txBody>
      </p:sp>
      <p:sp>
        <p:nvSpPr>
          <p:cNvPr id="41" name="stat41"/>
          <p:cNvSpPr txBox="1">
            <a:spLocks noGrp="1"/>
          </p:cNvSpPr>
          <p:nvPr/>
        </p:nvSpPr>
        <p:spPr>
          <a:xfrm>
            <a:off x="9100000" y="900000"/>
            <a:ext cx="2600000" cy="1200000"/>
          </a:xfrm>
          <a:prstGeom prst="roundRect">
            <a:avLst>
              <a:gd name="adj" fmla="val 3000"/>
            </a:avLst>
          </a:prstGeom>
          <a:solidFill>
            <a:srgbClr val="336EA8"/>
          </a:solidFill>
          <a:ln>
            <a:noFill/>
          </a:ln>
        </p:spPr>
        <p:txBody>
          <a:bodyPr wrap="square" lIns="91440" tIns="182880" rIns="91440" bIns="91440" anchor="ctr">
            <a:no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999K</a:t>
            </a:r>
          </a:p>
          <a:p>
            <a:pPr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Customers</a:t>
            </a:r>
          </a:p>
        </p:txBody>
      </p:sp>
      <p:sp>
        <p:nvSpPr>
          <p:cNvPr id="42" name="stat42"/>
          <p:cNvSpPr txBox="1">
            <a:spLocks noGrp="1"/>
          </p:cNvSpPr>
          <p:nvPr/>
        </p:nvSpPr>
        <p:spPr>
          <a:xfrm>
            <a:off x="6400000" y="2300000"/>
            <a:ext cx="2400000" cy="1200000"/>
          </a:xfrm>
          <a:prstGeom prst="roundRect">
            <a:avLst>
              <a:gd name="adj" fmla="val 3000"/>
            </a:avLst>
          </a:prstGeom>
          <a:solidFill>
            <a:srgbClr val="0FAB7D"/>
          </a:solidFill>
          <a:ln>
            <a:noFill/>
          </a:ln>
        </p:spPr>
        <p:txBody>
          <a:bodyPr wrap="square" lIns="91440" tIns="182880" rIns="91440" bIns="91440" anchor="ctr">
            <a:no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32</a:t>
            </a:r>
          </a:p>
          <a:p>
            <a:pPr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43" name="stat43"/>
          <p:cNvSpPr txBox="1">
            <a:spLocks noGrp="1"/>
          </p:cNvSpPr>
          <p:nvPr/>
        </p:nvSpPr>
        <p:spPr>
          <a:xfrm>
            <a:off x="9100000" y="2300000"/>
            <a:ext cx="2600000" cy="1200000"/>
          </a:xfrm>
          <a:prstGeom prst="roundRect">
            <a:avLst>
              <a:gd name="adj" fmla="val 3000"/>
            </a:avLst>
          </a:prstGeom>
          <a:solidFill>
            <a:srgbClr val="D7B119"/>
          </a:solidFill>
          <a:ln>
            <a:noFill/>
          </a:ln>
        </p:spPr>
        <p:txBody>
          <a:bodyPr wrap="square" lIns="91440" tIns="182880" rIns="91440" bIns="91440" anchor="ctr">
            <a:no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4</a:t>
            </a:r>
          </a:p>
          <a:p>
            <a:pPr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ML Models</a:t>
            </a:r>
          </a:p>
        </p:txBody>
      </p:sp>
      <p:sp>
        <p:nvSpPr>
          <p:cNvPr id="44" name="stat44"/>
          <p:cNvSpPr txBox="1">
            <a:spLocks noGrp="1"/>
          </p:cNvSpPr>
          <p:nvPr/>
        </p:nvSpPr>
        <p:spPr>
          <a:xfrm>
            <a:off x="6400000" y="3700000"/>
            <a:ext cx="5300000" cy="1100000"/>
          </a:xfrm>
          <a:prstGeom prst="roundRect">
            <a:avLst>
              <a:gd name="adj" fmla="val 3000"/>
            </a:avLst>
          </a:prstGeom>
          <a:solidFill>
            <a:srgbClr val="047954"/>
          </a:solidFill>
          <a:ln>
            <a:noFill/>
          </a:ln>
        </p:spPr>
        <p:txBody>
          <a:bodyPr wrap="square" lIns="91440" tIns="182880" rIns="91440" bIns="91440" anchor="ctr">
            <a:no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LightGBM</a:t>
            </a:r>
          </a:p>
          <a:p>
            <a:pPr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Best Model Selected</a:t>
            </a:r>
          </a:p>
        </p:txBody>
      </p:sp>
      <p:sp>
        <p:nvSpPr>
          <p:cNvPr id="901" name="dt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r>
              <a:rPr lang="en-US" dirty="0"/>
              <a:t>July 2026</a:t>
            </a:r>
          </a:p>
        </p:txBody>
      </p:sp>
      <p:sp>
        <p:nvSpPr>
          <p:cNvPr id="902" name="sldNum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85982858-489B-37D1-07C6-5DD9B3BC778B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37750" y="6331637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roo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cover_left_logo"/>
          <p:cNvSpPr>
            <a:spLocks noGrp="1"/>
          </p:cNvSpPr>
          <p:nvPr/>
        </p:nvSpPr>
        <p:spPr>
          <a:xfrm>
            <a:off x="0" y="0"/>
            <a:ext cx="2000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6" name="cover_right_logo"/>
          <p:cNvSpPr>
            <a:spLocks noGrp="1"/>
          </p:cNvSpPr>
          <p:nvPr/>
        </p:nvSpPr>
        <p:spPr>
          <a:xfrm>
            <a:off x="10600000" y="0"/>
            <a:ext cx="1600000" cy="1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9" name="logo_cover"/>
          <p:cNvSpPr>
            <a:spLocks noGrp="1"/>
          </p:cNvSpPr>
          <p:nvPr/>
        </p:nvSpPr>
        <p:spPr>
          <a:xfrm>
            <a:off x="0" y="685800"/>
            <a:ext cx="30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1" name="header_bar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txBody>
          <a:bodyPr wrap="square" lIns="457200" tIns="91440" anchor="ctr">
            <a:no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 Wireframe — Streamlit Dashboard</a:t>
            </a:r>
          </a:p>
        </p:txBody>
      </p:sp>
      <p:sp>
        <p:nvSpPr>
          <p:cNvPr id="50" name="card50"/>
          <p:cNvSpPr txBox="1">
            <a:spLocks noGrp="1"/>
          </p:cNvSpPr>
          <p:nvPr/>
        </p:nvSpPr>
        <p:spPr>
          <a:xfrm>
            <a:off x="244868" y="1085266"/>
            <a:ext cx="3657600" cy="1600000"/>
          </a:xfrm>
          <a:prstGeom prst="roundRect">
            <a:avLst>
              <a:gd name="adj" fmla="val 3000"/>
            </a:avLst>
          </a:prstGeom>
          <a:solidFill>
            <a:srgbClr val="EBF7F2"/>
          </a:solidFill>
          <a:ln w="19050">
            <a:solidFill>
              <a:srgbClr val="047954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47954"/>
                </a:solidFill>
              </a:rPr>
              <a:t>📊 Page 1 — Overview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4 KPI metric cards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Total customers, churn rate, retained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Key insights summary</a:t>
            </a:r>
          </a:p>
        </p:txBody>
      </p:sp>
      <p:sp>
        <p:nvSpPr>
          <p:cNvPr id="51" name="card51"/>
          <p:cNvSpPr txBox="1">
            <a:spLocks noGrp="1"/>
          </p:cNvSpPr>
          <p:nvPr/>
        </p:nvSpPr>
        <p:spPr>
          <a:xfrm>
            <a:off x="4343200" y="850000"/>
            <a:ext cx="3657600" cy="1600000"/>
          </a:xfrm>
          <a:prstGeom prst="roundRect">
            <a:avLst>
              <a:gd name="adj" fmla="val 3000"/>
            </a:avLst>
          </a:prstGeom>
          <a:solidFill>
            <a:srgbClr val="EBF0F7"/>
          </a:solidFill>
          <a:ln w="19050">
            <a:solidFill>
              <a:srgbClr val="336EA8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336EA8"/>
                </a:solidFill>
              </a:rPr>
              <a:t>📈 Page 2 — EDA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Churn distribution chart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Churn by contract type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Complaints vs satisfaction analysis</a:t>
            </a:r>
          </a:p>
        </p:txBody>
      </p:sp>
      <p:sp>
        <p:nvSpPr>
          <p:cNvPr id="52" name="card52"/>
          <p:cNvSpPr txBox="1">
            <a:spLocks noGrp="1"/>
          </p:cNvSpPr>
          <p:nvPr/>
        </p:nvSpPr>
        <p:spPr>
          <a:xfrm>
            <a:off x="8229200" y="850000"/>
            <a:ext cx="3505600" cy="1600000"/>
          </a:xfrm>
          <a:prstGeom prst="roundRect">
            <a:avLst>
              <a:gd name="adj" fmla="val 3000"/>
            </a:avLst>
          </a:prstGeom>
          <a:solidFill>
            <a:srgbClr val="FFF8E6"/>
          </a:solidFill>
          <a:ln w="19050">
            <a:solidFill>
              <a:srgbClr val="D7B119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D7B119"/>
                </a:solidFill>
              </a:rPr>
              <a:t>🤖 Page 3 — Prediction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9 input sliders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Real-time LightGBM prediction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Risk probability + factors</a:t>
            </a:r>
          </a:p>
        </p:txBody>
      </p:sp>
      <p:sp>
        <p:nvSpPr>
          <p:cNvPr id="55" name="tb55"/>
          <p:cNvSpPr txBox="1">
            <a:spLocks noGrp="1"/>
          </p:cNvSpPr>
          <p:nvPr/>
        </p:nvSpPr>
        <p:spPr>
          <a:xfrm>
            <a:off x="457200" y="2700000"/>
            <a:ext cx="11277600" cy="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047954"/>
                </a:solidFill>
              </a:rPr>
              <a:t>User Journey</a:t>
            </a:r>
          </a:p>
        </p:txBody>
      </p:sp>
      <p:sp>
        <p:nvSpPr>
          <p:cNvPr id="56" name="tb56"/>
          <p:cNvSpPr txBox="1">
            <a:spLocks noGrp="1"/>
          </p:cNvSpPr>
          <p:nvPr/>
        </p:nvSpPr>
        <p:spPr>
          <a:xfrm>
            <a:off x="457200" y="3150000"/>
            <a:ext cx="11277600" cy="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ctr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500" dirty="0">
                <a:solidFill>
                  <a:srgbClr val="336EA8"/>
                </a:solidFill>
              </a:rPr>
              <a:t>Enter Customer Data   →   Click Run Prediction   →   View Churn Probability   →   Review Risk Factors   →   Take Action</a:t>
            </a:r>
          </a:p>
        </p:txBody>
      </p:sp>
      <p:sp>
        <p:nvSpPr>
          <p:cNvPr id="57" name="tb57"/>
          <p:cNvSpPr txBox="1">
            <a:spLocks noGrp="1"/>
          </p:cNvSpPr>
          <p:nvPr/>
        </p:nvSpPr>
        <p:spPr>
          <a:xfrm>
            <a:off x="457200" y="3700000"/>
            <a:ext cx="112776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 lnSpcReduction="10000"/>
          </a:bodyPr>
          <a:lstStyle/>
          <a:p>
            <a:pPr algn="ctr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666666"/>
                </a:solidFill>
              </a:rPr>
              <a:t>Tech Stack:  Streamlit 1.40  ·  LightGBM  ·  Matplotlib  ·  Python 3.11  ·  Custom Dark CSS Theme</a:t>
            </a:r>
          </a:p>
        </p:txBody>
      </p:sp>
      <p:sp>
        <p:nvSpPr>
          <p:cNvPr id="58" name="card58"/>
          <p:cNvSpPr txBox="1">
            <a:spLocks noGrp="1"/>
          </p:cNvSpPr>
          <p:nvPr/>
        </p:nvSpPr>
        <p:spPr>
          <a:xfrm>
            <a:off x="457200" y="4200000"/>
            <a:ext cx="5486400" cy="1900000"/>
          </a:xfrm>
          <a:prstGeom prst="roundRect">
            <a:avLst>
              <a:gd name="adj" fmla="val 3000"/>
            </a:avLst>
          </a:prstGeom>
          <a:solidFill>
            <a:srgbClr val="F7FCF9"/>
          </a:solidFill>
          <a:ln w="19050">
            <a:solidFill>
              <a:srgbClr val="047954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47954"/>
                </a:solidFill>
              </a:rPr>
              <a:t>🎨 Design Principles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Dark professional theme (#070b14)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Inter font — clean &amp; modern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Color-coded risk: Red = High, Green = Low</a:t>
            </a:r>
          </a:p>
        </p:txBody>
      </p:sp>
      <p:sp>
        <p:nvSpPr>
          <p:cNvPr id="59" name="card59"/>
          <p:cNvSpPr txBox="1">
            <a:spLocks noGrp="1"/>
          </p:cNvSpPr>
          <p:nvPr/>
        </p:nvSpPr>
        <p:spPr>
          <a:xfrm>
            <a:off x="6248400" y="4200000"/>
            <a:ext cx="5486400" cy="1900000"/>
          </a:xfrm>
          <a:prstGeom prst="roundRect">
            <a:avLst>
              <a:gd name="adj" fmla="val 3000"/>
            </a:avLst>
          </a:prstGeom>
          <a:solidFill>
            <a:srgbClr val="F0F5FB"/>
          </a:solidFill>
          <a:ln w="19050">
            <a:solidFill>
              <a:srgbClr val="336EA8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336EA8"/>
                </a:solidFill>
              </a:rPr>
              <a:t>⚡ Key Features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Real-time prediction — no page reload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Automatic risk factor detection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Cached data loading for performance</a:t>
            </a:r>
          </a:p>
        </p:txBody>
      </p:sp>
      <p:sp>
        <p:nvSpPr>
          <p:cNvPr id="901" name="dt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r>
              <a:rPr lang="en-US" dirty="0"/>
              <a:t>July 2026</a:t>
            </a:r>
          </a:p>
        </p:txBody>
      </p:sp>
      <p:sp>
        <p:nvSpPr>
          <p:cNvPr id="902" name="sldNum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5FAB38A3-FB90-F923-B14B-7A359FAC160D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rd50">
            <a:extLst>
              <a:ext uri="{FF2B5EF4-FFF2-40B4-BE49-F238E27FC236}">
                <a16:creationId xmlns:a16="http://schemas.microsoft.com/office/drawing/2014/main" id="{1E615FD1-05E1-EE37-650A-2F03DD9CC548}"/>
              </a:ext>
            </a:extLst>
          </p:cNvPr>
          <p:cNvSpPr txBox="1">
            <a:spLocks noGrp="1"/>
          </p:cNvSpPr>
          <p:nvPr/>
        </p:nvSpPr>
        <p:spPr>
          <a:xfrm>
            <a:off x="2248192" y="1972683"/>
            <a:ext cx="3657600" cy="1600000"/>
          </a:xfrm>
          <a:prstGeom prst="roundRect">
            <a:avLst>
              <a:gd name="adj" fmla="val 3000"/>
            </a:avLst>
          </a:prstGeom>
          <a:solidFill>
            <a:srgbClr val="EBF7F2"/>
          </a:solidFill>
          <a:ln w="19050">
            <a:solidFill>
              <a:srgbClr val="047954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47954"/>
                </a:solidFill>
              </a:rPr>
              <a:t>📊 Page 1 — Overview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4 KPI metric cards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Total customers, churn rate, retained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Key insights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roo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cover_left_logo"/>
          <p:cNvSpPr>
            <a:spLocks noGrp="1"/>
          </p:cNvSpPr>
          <p:nvPr/>
        </p:nvSpPr>
        <p:spPr>
          <a:xfrm>
            <a:off x="0" y="0"/>
            <a:ext cx="2000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6" name="cover_right_logo"/>
          <p:cNvSpPr>
            <a:spLocks noGrp="1"/>
          </p:cNvSpPr>
          <p:nvPr/>
        </p:nvSpPr>
        <p:spPr>
          <a:xfrm>
            <a:off x="10600000" y="0"/>
            <a:ext cx="1600000" cy="1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9" name="logo_cover"/>
          <p:cNvSpPr>
            <a:spLocks noGrp="1"/>
          </p:cNvSpPr>
          <p:nvPr/>
        </p:nvSpPr>
        <p:spPr>
          <a:xfrm>
            <a:off x="0" y="685800"/>
            <a:ext cx="30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1" name="header_bar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txBody>
          <a:bodyPr wrap="square" lIns="457200" tIns="91440" anchor="ctr">
            <a:no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End Users + Key Features</a:t>
            </a:r>
          </a:p>
        </p:txBody>
      </p:sp>
      <p:sp>
        <p:nvSpPr>
          <p:cNvPr id="60" name="tb60"/>
          <p:cNvSpPr txBox="1">
            <a:spLocks noGrp="1"/>
          </p:cNvSpPr>
          <p:nvPr/>
        </p:nvSpPr>
        <p:spPr>
          <a:xfrm>
            <a:off x="457200" y="800000"/>
            <a:ext cx="56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 fontScale="85000" lnSpcReduction="10000"/>
          </a:bodyPr>
          <a:lstStyle/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2000" b="1" dirty="0">
                <a:solidFill>
                  <a:srgbClr val="047954"/>
                </a:solidFill>
              </a:rPr>
              <a:t>Primary Users</a:t>
            </a:r>
          </a:p>
        </p:txBody>
      </p:sp>
      <p:sp>
        <p:nvSpPr>
          <p:cNvPr id="61" name="card61"/>
          <p:cNvSpPr txBox="1">
            <a:spLocks noGrp="1"/>
          </p:cNvSpPr>
          <p:nvPr/>
        </p:nvSpPr>
        <p:spPr>
          <a:xfrm>
            <a:off x="457200" y="1200000"/>
            <a:ext cx="2650000" cy="2200000"/>
          </a:xfrm>
          <a:prstGeom prst="roundRect">
            <a:avLst>
              <a:gd name="adj" fmla="val 3000"/>
            </a:avLst>
          </a:prstGeom>
          <a:solidFill>
            <a:srgbClr val="EBF7F2"/>
          </a:solidFill>
          <a:ln w="19050">
            <a:solidFill>
              <a:srgbClr val="047954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47954"/>
                </a:solidFill>
              </a:rPr>
              <a:t>📱 Business Analysts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Monitor churn KPIs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Identify high-risk segments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Track retention campaigns</a:t>
            </a:r>
          </a:p>
        </p:txBody>
      </p:sp>
      <p:sp>
        <p:nvSpPr>
          <p:cNvPr id="62" name="card62"/>
          <p:cNvSpPr txBox="1">
            <a:spLocks noGrp="1"/>
          </p:cNvSpPr>
          <p:nvPr/>
        </p:nvSpPr>
        <p:spPr>
          <a:xfrm>
            <a:off x="3300000" y="1200000"/>
            <a:ext cx="2650000" cy="2200000"/>
          </a:xfrm>
          <a:prstGeom prst="roundRect">
            <a:avLst>
              <a:gd name="adj" fmla="val 3000"/>
            </a:avLst>
          </a:prstGeom>
          <a:solidFill>
            <a:srgbClr val="EBF0F7"/>
          </a:solidFill>
          <a:ln w="19050">
            <a:solidFill>
              <a:srgbClr val="336EA8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336EA8"/>
                </a:solidFill>
              </a:rPr>
              <a:t>👨‍💼 Customer Success Teams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View at-risk customers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Prioritize outreach calls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Reduce churn proactively</a:t>
            </a:r>
          </a:p>
        </p:txBody>
      </p:sp>
      <p:sp>
        <p:nvSpPr>
          <p:cNvPr id="63" name="card63"/>
          <p:cNvSpPr txBox="1">
            <a:spLocks noGrp="1"/>
          </p:cNvSpPr>
          <p:nvPr/>
        </p:nvSpPr>
        <p:spPr>
          <a:xfrm>
            <a:off x="6150000" y="1200000"/>
            <a:ext cx="2650000" cy="2200000"/>
          </a:xfrm>
          <a:prstGeom prst="roundRect">
            <a:avLst>
              <a:gd name="adj" fmla="val 3000"/>
            </a:avLst>
          </a:prstGeom>
          <a:solidFill>
            <a:srgbClr val="FFF8E6"/>
          </a:solidFill>
          <a:ln w="19050">
            <a:solidFill>
              <a:srgbClr val="D7B119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D7B119"/>
                </a:solidFill>
              </a:rPr>
              <a:t>📊 Data Scientists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Evaluate model performance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Analyze feature importance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Retrain on new data</a:t>
            </a:r>
          </a:p>
        </p:txBody>
      </p:sp>
      <p:sp>
        <p:nvSpPr>
          <p:cNvPr id="64" name="card64"/>
          <p:cNvSpPr txBox="1">
            <a:spLocks noGrp="1"/>
          </p:cNvSpPr>
          <p:nvPr/>
        </p:nvSpPr>
        <p:spPr>
          <a:xfrm>
            <a:off x="9000000" y="1200000"/>
            <a:ext cx="2735800" cy="2200000"/>
          </a:xfrm>
          <a:prstGeom prst="roundRect">
            <a:avLst>
              <a:gd name="adj" fmla="val 3000"/>
            </a:avLst>
          </a:prstGeom>
          <a:solidFill>
            <a:srgbClr val="F0F5FB"/>
          </a:solidFill>
          <a:ln w="19050">
            <a:solidFill>
              <a:srgbClr val="0FAB7D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FAB7D"/>
                </a:solidFill>
              </a:rPr>
              <a:t>🏢 C-Level Executives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High-level churn overview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Revenue impact estimates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Strategic retention decisions</a:t>
            </a:r>
          </a:p>
        </p:txBody>
      </p:sp>
      <p:sp>
        <p:nvSpPr>
          <p:cNvPr id="65" name="tb65"/>
          <p:cNvSpPr txBox="1">
            <a:spLocks noGrp="1"/>
          </p:cNvSpPr>
          <p:nvPr/>
        </p:nvSpPr>
        <p:spPr>
          <a:xfrm>
            <a:off x="457200" y="3600000"/>
            <a:ext cx="112776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 fontScale="85000" lnSpcReduction="10000"/>
          </a:bodyPr>
          <a:lstStyle/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2000" b="1" dirty="0">
                <a:solidFill>
                  <a:srgbClr val="047954"/>
                </a:solidFill>
              </a:rPr>
              <a:t>Key Features that Address User Needs</a:t>
            </a:r>
          </a:p>
        </p:txBody>
      </p:sp>
      <p:sp>
        <p:nvSpPr>
          <p:cNvPr id="66" name="card66"/>
          <p:cNvSpPr txBox="1">
            <a:spLocks noGrp="1"/>
          </p:cNvSpPr>
          <p:nvPr/>
        </p:nvSpPr>
        <p:spPr>
          <a:xfrm>
            <a:off x="457200" y="4100000"/>
            <a:ext cx="3600000" cy="1900000"/>
          </a:xfrm>
          <a:prstGeom prst="roundRect">
            <a:avLst>
              <a:gd name="adj" fmla="val 3000"/>
            </a:avLst>
          </a:prstGeom>
          <a:solidFill>
            <a:srgbClr val="EBF7F2"/>
          </a:solidFill>
          <a:ln w="19050">
            <a:solidFill>
              <a:srgbClr val="047954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47954"/>
                </a:solidFill>
              </a:rPr>
              <a:t>🔮 Real-Time Prediction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Input any customer profile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Get instant churn probability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Actionable risk factors shown</a:t>
            </a:r>
          </a:p>
        </p:txBody>
      </p:sp>
      <p:sp>
        <p:nvSpPr>
          <p:cNvPr id="67" name="card67"/>
          <p:cNvSpPr txBox="1">
            <a:spLocks noGrp="1"/>
          </p:cNvSpPr>
          <p:nvPr/>
        </p:nvSpPr>
        <p:spPr>
          <a:xfrm>
            <a:off x="4228800" y="4100000"/>
            <a:ext cx="3600000" cy="1900000"/>
          </a:xfrm>
          <a:prstGeom prst="roundRect">
            <a:avLst>
              <a:gd name="adj" fmla="val 3000"/>
            </a:avLst>
          </a:prstGeom>
          <a:solidFill>
            <a:srgbClr val="EBF0F7"/>
          </a:solidFill>
          <a:ln w="19050">
            <a:solidFill>
              <a:srgbClr val="336EA8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336EA8"/>
                </a:solidFill>
              </a:rPr>
              <a:t>📊 Visual Analytics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4 EDA charts on dashboard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Contract, complaints, satisfaction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Churn distribution overview</a:t>
            </a:r>
          </a:p>
        </p:txBody>
      </p:sp>
      <p:sp>
        <p:nvSpPr>
          <p:cNvPr id="68" name="card68"/>
          <p:cNvSpPr txBox="1">
            <a:spLocks noGrp="1"/>
          </p:cNvSpPr>
          <p:nvPr/>
        </p:nvSpPr>
        <p:spPr>
          <a:xfrm>
            <a:off x="8000000" y="4100000"/>
            <a:ext cx="3735800" cy="1900000"/>
          </a:xfrm>
          <a:prstGeom prst="roundRect">
            <a:avLst>
              <a:gd name="adj" fmla="val 3000"/>
            </a:avLst>
          </a:prstGeom>
          <a:solidFill>
            <a:srgbClr val="FFF8E6"/>
          </a:solidFill>
          <a:ln w="19050">
            <a:solidFill>
              <a:srgbClr val="D7B119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D7B119"/>
                </a:solidFill>
              </a:rPr>
              <a:t>🗄️ SQL Integration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Full SQL Server database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5 business intelligence queries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High-risk customer identification</a:t>
            </a:r>
          </a:p>
        </p:txBody>
      </p:sp>
      <p:sp>
        <p:nvSpPr>
          <p:cNvPr id="901" name="dt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r>
              <a:rPr lang="en-US" dirty="0"/>
              <a:t>July 2026</a:t>
            </a:r>
          </a:p>
        </p:txBody>
      </p:sp>
      <p:sp>
        <p:nvSpPr>
          <p:cNvPr id="902" name="sldNum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>
              <a:buNone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A0F0B9E2-5CA4-3524-DC4E-0F0B6FBF0CB3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roo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cover_left_logo"/>
          <p:cNvSpPr>
            <a:spLocks noGrp="1"/>
          </p:cNvSpPr>
          <p:nvPr/>
        </p:nvSpPr>
        <p:spPr>
          <a:xfrm>
            <a:off x="0" y="0"/>
            <a:ext cx="2000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6" name="cover_right_logo"/>
          <p:cNvSpPr>
            <a:spLocks noGrp="1"/>
          </p:cNvSpPr>
          <p:nvPr/>
        </p:nvSpPr>
        <p:spPr>
          <a:xfrm>
            <a:off x="10600000" y="0"/>
            <a:ext cx="1600000" cy="1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9" name="logo_cover"/>
          <p:cNvSpPr>
            <a:spLocks noGrp="1"/>
          </p:cNvSpPr>
          <p:nvPr/>
        </p:nvSpPr>
        <p:spPr>
          <a:xfrm>
            <a:off x="0" y="685800"/>
            <a:ext cx="30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1" name="header_bar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txBody>
          <a:bodyPr wrap="square" lIns="457200" tIns="91440" anchor="ctr">
            <a:no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Structure</a:t>
            </a:r>
          </a:p>
        </p:txBody>
      </p:sp>
      <p:sp>
        <p:nvSpPr>
          <p:cNvPr id="70" name="tb70"/>
          <p:cNvSpPr txBox="1">
            <a:spLocks noGrp="1"/>
          </p:cNvSpPr>
          <p:nvPr/>
        </p:nvSpPr>
        <p:spPr>
          <a:xfrm>
            <a:off x="457200" y="800000"/>
            <a:ext cx="7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 fontScale="85000" lnSpcReduction="10000"/>
          </a:bodyPr>
          <a:lstStyle/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2000" b="1" dirty="0">
                <a:solidFill>
                  <a:srgbClr val="047954"/>
                </a:solidFill>
              </a:rPr>
              <a:t>Dataset Overview</a:t>
            </a:r>
          </a:p>
        </p:txBody>
      </p:sp>
      <p:sp>
        <p:nvSpPr>
          <p:cNvPr id="71" name="stat71"/>
          <p:cNvSpPr txBox="1">
            <a:spLocks noGrp="1"/>
          </p:cNvSpPr>
          <p:nvPr/>
        </p:nvSpPr>
        <p:spPr>
          <a:xfrm>
            <a:off x="457200" y="1250000"/>
            <a:ext cx="2400000" cy="1200000"/>
          </a:xfrm>
          <a:prstGeom prst="roundRect">
            <a:avLst>
              <a:gd name="adj" fmla="val 3000"/>
            </a:avLst>
          </a:prstGeom>
          <a:solidFill>
            <a:srgbClr val="047954"/>
          </a:solidFill>
          <a:ln>
            <a:noFill/>
          </a:ln>
        </p:spPr>
        <p:txBody>
          <a:bodyPr wrap="square" lIns="91440" tIns="182880" rIns="91440" bIns="91440" anchor="ctr">
            <a:no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999K</a:t>
            </a:r>
          </a:p>
          <a:p>
            <a:pPr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Rows</a:t>
            </a:r>
          </a:p>
        </p:txBody>
      </p:sp>
      <p:sp>
        <p:nvSpPr>
          <p:cNvPr id="72" name="stat72"/>
          <p:cNvSpPr txBox="1">
            <a:spLocks noGrp="1"/>
          </p:cNvSpPr>
          <p:nvPr/>
        </p:nvSpPr>
        <p:spPr>
          <a:xfrm>
            <a:off x="3100000" y="1250000"/>
            <a:ext cx="2400000" cy="1200000"/>
          </a:xfrm>
          <a:prstGeom prst="roundRect">
            <a:avLst>
              <a:gd name="adj" fmla="val 3000"/>
            </a:avLst>
          </a:prstGeom>
          <a:solidFill>
            <a:srgbClr val="336EA8"/>
          </a:solidFill>
          <a:ln>
            <a:noFill/>
          </a:ln>
        </p:spPr>
        <p:txBody>
          <a:bodyPr wrap="square" lIns="91440" tIns="182880" rIns="91440" bIns="91440" anchor="ctr">
            <a:no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32</a:t>
            </a:r>
          </a:p>
          <a:p>
            <a:pPr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Columns</a:t>
            </a:r>
          </a:p>
        </p:txBody>
      </p:sp>
      <p:sp>
        <p:nvSpPr>
          <p:cNvPr id="73" name="stat73"/>
          <p:cNvSpPr txBox="1">
            <a:spLocks noGrp="1"/>
          </p:cNvSpPr>
          <p:nvPr/>
        </p:nvSpPr>
        <p:spPr>
          <a:xfrm>
            <a:off x="5800000" y="1250000"/>
            <a:ext cx="2400000" cy="1200000"/>
          </a:xfrm>
          <a:prstGeom prst="roundRect">
            <a:avLst>
              <a:gd name="adj" fmla="val 3000"/>
            </a:avLst>
          </a:prstGeom>
          <a:solidFill>
            <a:srgbClr val="D7B119"/>
          </a:solidFill>
          <a:ln>
            <a:noFill/>
          </a:ln>
        </p:spPr>
        <p:txBody>
          <a:bodyPr wrap="square" lIns="91440" tIns="182880" rIns="91440" bIns="91440" anchor="ctr">
            <a:no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9.9%</a:t>
            </a:r>
          </a:p>
          <a:p>
            <a:pPr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Churn Rate</a:t>
            </a:r>
          </a:p>
        </p:txBody>
      </p:sp>
      <p:sp>
        <p:nvSpPr>
          <p:cNvPr id="74" name="stat74"/>
          <p:cNvSpPr txBox="1">
            <a:spLocks noGrp="1"/>
          </p:cNvSpPr>
          <p:nvPr/>
        </p:nvSpPr>
        <p:spPr>
          <a:xfrm>
            <a:off x="8500000" y="1250000"/>
            <a:ext cx="3235800" cy="1200000"/>
          </a:xfrm>
          <a:prstGeom prst="roundRect">
            <a:avLst>
              <a:gd name="adj" fmla="val 3000"/>
            </a:avLst>
          </a:prstGeom>
          <a:solidFill>
            <a:srgbClr val="0FAB7D"/>
          </a:solidFill>
          <a:ln>
            <a:noFill/>
          </a:ln>
        </p:spPr>
        <p:txBody>
          <a:bodyPr wrap="square" lIns="91440" tIns="182880" rIns="91440" bIns="91440" anchor="ctr">
            <a:no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5</a:t>
            </a:r>
          </a:p>
          <a:p>
            <a:pPr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Missing Cols</a:t>
            </a:r>
          </a:p>
        </p:txBody>
      </p:sp>
      <p:sp>
        <p:nvSpPr>
          <p:cNvPr id="75" name="card75"/>
          <p:cNvSpPr txBox="1">
            <a:spLocks noGrp="1"/>
          </p:cNvSpPr>
          <p:nvPr/>
        </p:nvSpPr>
        <p:spPr>
          <a:xfrm>
            <a:off x="457200" y="2700000"/>
            <a:ext cx="2750000" cy="3200000"/>
          </a:xfrm>
          <a:prstGeom prst="roundRect">
            <a:avLst>
              <a:gd name="adj" fmla="val 3000"/>
            </a:avLst>
          </a:prstGeom>
          <a:solidFill>
            <a:srgbClr val="EBF7F2"/>
          </a:solidFill>
          <a:ln w="19050">
            <a:solidFill>
              <a:srgbClr val="047954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47954"/>
                </a:solidFill>
              </a:rPr>
              <a:t>👤 Demographics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age, gender, education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marital_status, dependents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annual_income, credit_score</a:t>
            </a:r>
          </a:p>
        </p:txBody>
      </p:sp>
      <p:sp>
        <p:nvSpPr>
          <p:cNvPr id="76" name="card76"/>
          <p:cNvSpPr txBox="1">
            <a:spLocks noGrp="1"/>
          </p:cNvSpPr>
          <p:nvPr/>
        </p:nvSpPr>
        <p:spPr>
          <a:xfrm>
            <a:off x="3400000" y="2700000"/>
            <a:ext cx="2750000" cy="3200000"/>
          </a:xfrm>
          <a:prstGeom prst="roundRect">
            <a:avLst>
              <a:gd name="adj" fmla="val 3000"/>
            </a:avLst>
          </a:prstGeom>
          <a:solidFill>
            <a:srgbClr val="EBF0F7"/>
          </a:solidFill>
          <a:ln w="19050">
            <a:solidFill>
              <a:srgbClr val="336EA8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336EA8"/>
                </a:solidFill>
              </a:rPr>
              <a:t>💰 Financial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monthlycharges, totalcharges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payment_method, late_payments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paperless_billing</a:t>
            </a:r>
          </a:p>
        </p:txBody>
      </p:sp>
      <p:sp>
        <p:nvSpPr>
          <p:cNvPr id="77" name="card77"/>
          <p:cNvSpPr txBox="1">
            <a:spLocks noGrp="1"/>
          </p:cNvSpPr>
          <p:nvPr/>
        </p:nvSpPr>
        <p:spPr>
          <a:xfrm>
            <a:off x="6350000" y="2700000"/>
            <a:ext cx="2750000" cy="3200000"/>
          </a:xfrm>
          <a:prstGeom prst="roundRect">
            <a:avLst>
              <a:gd name="adj" fmla="val 3000"/>
            </a:avLst>
          </a:prstGeom>
          <a:solidFill>
            <a:srgbClr val="FFF8E6"/>
          </a:solidFill>
          <a:ln w="19050">
            <a:solidFill>
              <a:srgbClr val="D7B119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D7B119"/>
                </a:solidFill>
              </a:rPr>
              <a:t>📡 Services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has_phone/internet_service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has_online_security/backup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has_tech_support, streaming</a:t>
            </a:r>
          </a:p>
        </p:txBody>
      </p:sp>
      <p:sp>
        <p:nvSpPr>
          <p:cNvPr id="78" name="card78"/>
          <p:cNvSpPr txBox="1">
            <a:spLocks noGrp="1"/>
          </p:cNvSpPr>
          <p:nvPr/>
        </p:nvSpPr>
        <p:spPr>
          <a:xfrm>
            <a:off x="9300000" y="2700000"/>
            <a:ext cx="2443800" cy="3200000"/>
          </a:xfrm>
          <a:prstGeom prst="roundRect">
            <a:avLst>
              <a:gd name="adj" fmla="val 3000"/>
            </a:avLst>
          </a:prstGeom>
          <a:solidFill>
            <a:srgbClr val="F0F5FB"/>
          </a:solidFill>
          <a:ln w="19050">
            <a:solidFill>
              <a:srgbClr val="0FAB7D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FAB7D"/>
                </a:solidFill>
              </a:rPr>
              <a:t>📊 Behavior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num_complaints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customer_satisfaction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days_since_last_interaction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avg_monthly_gb</a:t>
            </a:r>
          </a:p>
        </p:txBody>
      </p:sp>
      <p:sp>
        <p:nvSpPr>
          <p:cNvPr id="79" name="tb79"/>
          <p:cNvSpPr txBox="1">
            <a:spLocks noGrp="1"/>
          </p:cNvSpPr>
          <p:nvPr/>
        </p:nvSpPr>
        <p:spPr>
          <a:xfrm>
            <a:off x="457200" y="5972200"/>
            <a:ext cx="11277600" cy="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ctr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666666"/>
                </a:solidFill>
              </a:rPr>
              <a:t>Preprocessing: Missing values filled with Median  ·  Ordinal + One-Hot Encoding  ·  StandardScaler  ·  80/20 Train-Test Split  ·  class_weight=balanced</a:t>
            </a:r>
          </a:p>
        </p:txBody>
      </p:sp>
      <p:sp>
        <p:nvSpPr>
          <p:cNvPr id="901" name="dt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r>
              <a:rPr lang="en-US" dirty="0"/>
              <a:t>July 2026</a:t>
            </a:r>
          </a:p>
        </p:txBody>
      </p:sp>
      <p:sp>
        <p:nvSpPr>
          <p:cNvPr id="902" name="sldNum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>
              <a:buNone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F60613C0-30CF-09A9-E8C1-EC2CB0E67AD2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roo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cover_left_logo"/>
          <p:cNvSpPr>
            <a:spLocks noGrp="1"/>
          </p:cNvSpPr>
          <p:nvPr/>
        </p:nvSpPr>
        <p:spPr>
          <a:xfrm>
            <a:off x="0" y="0"/>
            <a:ext cx="2000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6" name="cover_right_logo"/>
          <p:cNvSpPr>
            <a:spLocks noGrp="1"/>
          </p:cNvSpPr>
          <p:nvPr/>
        </p:nvSpPr>
        <p:spPr>
          <a:xfrm>
            <a:off x="10600000" y="0"/>
            <a:ext cx="1600000" cy="1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9" name="logo_cover"/>
          <p:cNvSpPr>
            <a:spLocks noGrp="1"/>
          </p:cNvSpPr>
          <p:nvPr/>
        </p:nvSpPr>
        <p:spPr>
          <a:xfrm>
            <a:off x="0" y="685800"/>
            <a:ext cx="30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1" name="header_bar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txBody>
          <a:bodyPr wrap="square" lIns="457200" tIns="91440" anchor="ctr">
            <a:no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Programming Languages + Frameworks</a:t>
            </a:r>
          </a:p>
        </p:txBody>
      </p:sp>
      <p:sp>
        <p:nvSpPr>
          <p:cNvPr id="80" name="card80"/>
          <p:cNvSpPr txBox="1">
            <a:spLocks noGrp="1"/>
          </p:cNvSpPr>
          <p:nvPr/>
        </p:nvSpPr>
        <p:spPr>
          <a:xfrm>
            <a:off x="457200" y="850000"/>
            <a:ext cx="3600000" cy="1700000"/>
          </a:xfrm>
          <a:prstGeom prst="roundRect">
            <a:avLst>
              <a:gd name="adj" fmla="val 3000"/>
            </a:avLst>
          </a:prstGeom>
          <a:solidFill>
            <a:srgbClr val="EBF7F2"/>
          </a:solidFill>
          <a:ln w="19050">
            <a:solidFill>
              <a:srgbClr val="047954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47954"/>
                </a:solidFill>
              </a:rPr>
              <a:t>🐍 Python 3.14.1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Primary language for all tasks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Data processing, ML, dashboard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Jupyter Notebooks + VS Code</a:t>
            </a:r>
          </a:p>
        </p:txBody>
      </p:sp>
      <p:sp>
        <p:nvSpPr>
          <p:cNvPr id="81" name="card81"/>
          <p:cNvSpPr txBox="1">
            <a:spLocks noGrp="1"/>
          </p:cNvSpPr>
          <p:nvPr/>
        </p:nvSpPr>
        <p:spPr>
          <a:xfrm>
            <a:off x="4285800" y="850000"/>
            <a:ext cx="3600000" cy="1700000"/>
          </a:xfrm>
          <a:prstGeom prst="roundRect">
            <a:avLst>
              <a:gd name="adj" fmla="val 3000"/>
            </a:avLst>
          </a:prstGeom>
          <a:solidFill>
            <a:srgbClr val="EBF0F7"/>
          </a:solidFill>
          <a:ln w="19050">
            <a:solidFill>
              <a:srgbClr val="336EA8"/>
            </a:solidFill>
          </a:ln>
        </p:spPr>
        <p:txBody>
          <a:bodyPr wrap="square" lIns="182880" tIns="182880" rIns="182880" bIns="91440" anchor="t"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336EA8"/>
                </a:solidFill>
              </a:rPr>
              <a:t>📊 Data &amp; ML Libraries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Pandas, NumPy — data manipulation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Scikit-learn — preprocessing + metrics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LightGBM, XGBoost — ML models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Imbalanced-learn — SMOTE</a:t>
            </a:r>
          </a:p>
        </p:txBody>
      </p:sp>
      <p:sp>
        <p:nvSpPr>
          <p:cNvPr id="82" name="card82"/>
          <p:cNvSpPr txBox="1">
            <a:spLocks noGrp="1"/>
          </p:cNvSpPr>
          <p:nvPr/>
        </p:nvSpPr>
        <p:spPr>
          <a:xfrm>
            <a:off x="8114400" y="850000"/>
            <a:ext cx="3620400" cy="1700000"/>
          </a:xfrm>
          <a:prstGeom prst="roundRect">
            <a:avLst>
              <a:gd name="adj" fmla="val 3000"/>
            </a:avLst>
          </a:prstGeom>
          <a:solidFill>
            <a:srgbClr val="FFF8E6"/>
          </a:solidFill>
          <a:ln w="19050">
            <a:solidFill>
              <a:srgbClr val="D7B119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D7B119"/>
                </a:solidFill>
              </a:rPr>
              <a:t>📈 Visualization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Matplotlib — custom charts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Seaborn — statistical plots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Streamlit — web dashboard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Custom dark CSS theme</a:t>
            </a:r>
          </a:p>
        </p:txBody>
      </p:sp>
      <p:sp>
        <p:nvSpPr>
          <p:cNvPr id="83" name="card83"/>
          <p:cNvSpPr txBox="1">
            <a:spLocks noGrp="1"/>
          </p:cNvSpPr>
          <p:nvPr/>
        </p:nvSpPr>
        <p:spPr>
          <a:xfrm>
            <a:off x="457200" y="2800000"/>
            <a:ext cx="3600000" cy="1700000"/>
          </a:xfrm>
          <a:prstGeom prst="roundRect">
            <a:avLst>
              <a:gd name="adj" fmla="val 3000"/>
            </a:avLst>
          </a:prstGeom>
          <a:solidFill>
            <a:srgbClr val="F0F5FB"/>
          </a:solidFill>
          <a:ln w="19050">
            <a:solidFill>
              <a:srgbClr val="0FAB7D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FAB7D"/>
                </a:solidFill>
              </a:rPr>
              <a:t>🗄️ Database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Microsoft SQL Server 16.0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pyodbc — Python connection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5 BI analytical queries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customer_churn database</a:t>
            </a:r>
          </a:p>
        </p:txBody>
      </p:sp>
      <p:sp>
        <p:nvSpPr>
          <p:cNvPr id="84" name="card84"/>
          <p:cNvSpPr txBox="1">
            <a:spLocks noGrp="1"/>
          </p:cNvSpPr>
          <p:nvPr/>
        </p:nvSpPr>
        <p:spPr>
          <a:xfrm>
            <a:off x="4285800" y="2800000"/>
            <a:ext cx="3600000" cy="1700000"/>
          </a:xfrm>
          <a:prstGeom prst="roundRect">
            <a:avLst>
              <a:gd name="adj" fmla="val 3000"/>
            </a:avLst>
          </a:prstGeom>
          <a:solidFill>
            <a:srgbClr val="EBF7F2"/>
          </a:solidFill>
          <a:ln w="19050">
            <a:solidFill>
              <a:srgbClr val="047954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47954"/>
                </a:solidFill>
              </a:rPr>
              <a:t>🔧 Tools &amp; DevOps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VS Code + Jupyter Notebooks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 err="1">
                <a:solidFill>
                  <a:srgbClr val="444444"/>
                </a:solidFill>
              </a:rPr>
              <a:t>joblib</a:t>
            </a:r>
            <a:r>
              <a:rPr lang="en-US" sz="1400" dirty="0">
                <a:solidFill>
                  <a:srgbClr val="444444"/>
                </a:solidFill>
              </a:rPr>
              <a:t> — model serialization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requirements.txt dependency mgmt</a:t>
            </a:r>
          </a:p>
        </p:txBody>
      </p:sp>
      <p:sp>
        <p:nvSpPr>
          <p:cNvPr id="85" name="card85"/>
          <p:cNvSpPr txBox="1">
            <a:spLocks noGrp="1"/>
          </p:cNvSpPr>
          <p:nvPr/>
        </p:nvSpPr>
        <p:spPr>
          <a:xfrm>
            <a:off x="8114400" y="2800000"/>
            <a:ext cx="3620400" cy="1700000"/>
          </a:xfrm>
          <a:prstGeom prst="roundRect">
            <a:avLst>
              <a:gd name="adj" fmla="val 3000"/>
            </a:avLst>
          </a:prstGeom>
          <a:solidFill>
            <a:srgbClr val="EBF0F7"/>
          </a:solidFill>
          <a:ln w="19050">
            <a:solidFill>
              <a:srgbClr val="336EA8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336EA8"/>
                </a:solidFill>
              </a:rPr>
              <a:t>🚀 Deployment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Streamlit 1.40.2 — web app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localhost:8501 — local server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lgbm_model.pkl — saved model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scaler.pkl — fitted scaler</a:t>
            </a:r>
          </a:p>
        </p:txBody>
      </p:sp>
      <p:sp>
        <p:nvSpPr>
          <p:cNvPr id="86" name="tb86"/>
          <p:cNvSpPr txBox="1">
            <a:spLocks noGrp="1"/>
          </p:cNvSpPr>
          <p:nvPr/>
        </p:nvSpPr>
        <p:spPr>
          <a:xfrm>
            <a:off x="457200" y="4720000"/>
            <a:ext cx="112776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ctr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666666"/>
                </a:solidFill>
              </a:rPr>
              <a:t>pandas 2.2.3  ·  numpy 2.1.3  ·  scikit-learn 1.5.2  ·  lightgbm 4.5.0  ·  xgboost 2.1.3  ·  streamlit 1.40.2  ·  pyodbc 5.2.0  ·  joblib 1.4.2</a:t>
            </a:r>
          </a:p>
        </p:txBody>
      </p:sp>
      <p:sp>
        <p:nvSpPr>
          <p:cNvPr id="901" name="dt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r>
              <a:rPr lang="en-US" dirty="0"/>
              <a:t>July 2026</a:t>
            </a:r>
          </a:p>
        </p:txBody>
      </p:sp>
      <p:sp>
        <p:nvSpPr>
          <p:cNvPr id="902" name="sldNum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3FF63AED-3289-2E15-7766-FB0A656F098B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cover_left_logo"/>
          <p:cNvSpPr>
            <a:spLocks noGrp="1"/>
          </p:cNvSpPr>
          <p:nvPr/>
        </p:nvSpPr>
        <p:spPr>
          <a:xfrm>
            <a:off x="0" y="0"/>
            <a:ext cx="2000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6" name="cover_right_logo"/>
          <p:cNvSpPr>
            <a:spLocks noGrp="1"/>
          </p:cNvSpPr>
          <p:nvPr/>
        </p:nvSpPr>
        <p:spPr>
          <a:xfrm>
            <a:off x="10600000" y="0"/>
            <a:ext cx="1600000" cy="1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9" name="logo_cover"/>
          <p:cNvSpPr>
            <a:spLocks noGrp="1"/>
          </p:cNvSpPr>
          <p:nvPr/>
        </p:nvSpPr>
        <p:spPr>
          <a:xfrm>
            <a:off x="0" y="685800"/>
            <a:ext cx="30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1" name="Google Shape;17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July 2026</a:t>
            </a:r>
          </a:p>
        </p:txBody>
      </p:sp>
      <p:sp>
        <p:nvSpPr>
          <p:cNvPr id="172" name="Google Shape;172;p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4" name="Google Shape;17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829" y="770001"/>
            <a:ext cx="7257018" cy="350947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03067B1-3EC8-45DB-2361-DD07914C4FB8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83A2209-CCAD-0256-EDF7-236F1F6D46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20467" y="1285800"/>
            <a:ext cx="274320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at: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900" dirty="0" err="1">
                <a:hlinkClick r:id="rId5"/>
              </a:rPr>
              <a:t>Streamlit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interactive pages — Overview, EDA,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dark professional UI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Tested on 200,000 customers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638568-8317-EA4E-5FEE-ECCD7B0583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829" y="763533"/>
            <a:ext cx="7257018" cy="35224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roo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cover_left_logo"/>
          <p:cNvSpPr>
            <a:spLocks noGrp="1"/>
          </p:cNvSpPr>
          <p:nvPr/>
        </p:nvSpPr>
        <p:spPr>
          <a:xfrm>
            <a:off x="0" y="0"/>
            <a:ext cx="2000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6" name="cover_right_logo"/>
          <p:cNvSpPr>
            <a:spLocks noGrp="1"/>
          </p:cNvSpPr>
          <p:nvPr/>
        </p:nvSpPr>
        <p:spPr>
          <a:xfrm>
            <a:off x="10600000" y="0"/>
            <a:ext cx="1600000" cy="1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9" name="logo_cover"/>
          <p:cNvSpPr>
            <a:spLocks noGrp="1"/>
          </p:cNvSpPr>
          <p:nvPr/>
        </p:nvSpPr>
        <p:spPr>
          <a:xfrm>
            <a:off x="0" y="685800"/>
            <a:ext cx="30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1" name="header_bar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txBody>
          <a:bodyPr wrap="square" lIns="457200" tIns="91440" anchor="ctr">
            <a:no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 Deliverables</a:t>
            </a:r>
          </a:p>
        </p:txBody>
      </p:sp>
      <p:sp>
        <p:nvSpPr>
          <p:cNvPr id="110" name="card110"/>
          <p:cNvSpPr txBox="1">
            <a:spLocks noGrp="1"/>
          </p:cNvSpPr>
          <p:nvPr/>
        </p:nvSpPr>
        <p:spPr>
          <a:xfrm>
            <a:off x="457200" y="850000"/>
            <a:ext cx="3600000" cy="2000000"/>
          </a:xfrm>
          <a:prstGeom prst="roundRect">
            <a:avLst>
              <a:gd name="adj" fmla="val 3000"/>
            </a:avLst>
          </a:prstGeom>
          <a:solidFill>
            <a:srgbClr val="EBF7F2"/>
          </a:solidFill>
          <a:ln w="19050">
            <a:solidFill>
              <a:srgbClr val="047954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47954"/>
                </a:solidFill>
              </a:rPr>
              <a:t>📓 Notebooks (5 files)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01 — Data Preprocessing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02 — Model Training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03 — Model Evaluation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04 — Data Analysis (EDA)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05 — SQL Analysis</a:t>
            </a:r>
          </a:p>
        </p:txBody>
      </p:sp>
      <p:sp>
        <p:nvSpPr>
          <p:cNvPr id="111" name="card111"/>
          <p:cNvSpPr txBox="1">
            <a:spLocks noGrp="1"/>
          </p:cNvSpPr>
          <p:nvPr/>
        </p:nvSpPr>
        <p:spPr>
          <a:xfrm>
            <a:off x="4285800" y="850000"/>
            <a:ext cx="3600000" cy="2000000"/>
          </a:xfrm>
          <a:prstGeom prst="roundRect">
            <a:avLst>
              <a:gd name="adj" fmla="val 3000"/>
            </a:avLst>
          </a:prstGeom>
          <a:solidFill>
            <a:srgbClr val="EBF0F7"/>
          </a:solidFill>
          <a:ln w="19050">
            <a:solidFill>
              <a:srgbClr val="336EA8"/>
            </a:solidFill>
          </a:ln>
        </p:spPr>
        <p:txBody>
          <a:bodyPr wrap="square" lIns="182880" tIns="182880" rIns="182880" bIns="91440" anchor="t"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336EA8"/>
                </a:solidFill>
              </a:rPr>
              <a:t>📊 Reports (5 PDFs)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Data Engineering Report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EDA Report (with charts)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SQL Analysis Report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 err="1">
                <a:solidFill>
                  <a:srgbClr val="444444"/>
                </a:solidFill>
              </a:rPr>
              <a:t>Streamlit</a:t>
            </a:r>
            <a:r>
              <a:rPr lang="en-US" sz="1400" dirty="0">
                <a:solidFill>
                  <a:srgbClr val="444444"/>
                </a:solidFill>
              </a:rPr>
              <a:t> &amp; Power BI Dashboard</a:t>
            </a:r>
            <a:r>
              <a:rPr lang="en-US" dirty="0">
                <a:solidFill>
                  <a:srgbClr val="444444"/>
                </a:solidFill>
              </a:rPr>
              <a:t>s</a:t>
            </a:r>
            <a:r>
              <a:rPr lang="en-US" sz="1400" dirty="0">
                <a:solidFill>
                  <a:srgbClr val="444444"/>
                </a:solidFill>
              </a:rPr>
              <a:t> Report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Project Documentation</a:t>
            </a:r>
          </a:p>
        </p:txBody>
      </p:sp>
      <p:sp>
        <p:nvSpPr>
          <p:cNvPr id="112" name="card112"/>
          <p:cNvSpPr txBox="1">
            <a:spLocks noGrp="1"/>
          </p:cNvSpPr>
          <p:nvPr/>
        </p:nvSpPr>
        <p:spPr>
          <a:xfrm>
            <a:off x="8114400" y="850000"/>
            <a:ext cx="3620400" cy="2000000"/>
          </a:xfrm>
          <a:prstGeom prst="roundRect">
            <a:avLst>
              <a:gd name="adj" fmla="val 3000"/>
            </a:avLst>
          </a:prstGeom>
          <a:solidFill>
            <a:srgbClr val="FFF8E6"/>
          </a:solidFill>
          <a:ln w="19050">
            <a:solidFill>
              <a:srgbClr val="D7B119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D7B119"/>
                </a:solidFill>
              </a:rPr>
              <a:t>🤖 Models &amp; Data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lgbm_model.pkl — trained model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scaler.pkl — fitted scaler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clean_data.csv — processed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customer_churn.csv — raw data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churn.db — SQL database</a:t>
            </a:r>
          </a:p>
        </p:txBody>
      </p:sp>
      <p:sp>
        <p:nvSpPr>
          <p:cNvPr id="113" name="card113"/>
          <p:cNvSpPr txBox="1">
            <a:spLocks noGrp="1"/>
          </p:cNvSpPr>
          <p:nvPr/>
        </p:nvSpPr>
        <p:spPr>
          <a:xfrm>
            <a:off x="457200" y="3100000"/>
            <a:ext cx="3600000" cy="2000000"/>
          </a:xfrm>
          <a:prstGeom prst="roundRect">
            <a:avLst>
              <a:gd name="adj" fmla="val 3000"/>
            </a:avLst>
          </a:prstGeom>
          <a:solidFill>
            <a:srgbClr val="F0F5FB"/>
          </a:solidFill>
          <a:ln w="19050">
            <a:solidFill>
              <a:srgbClr val="0FAB7D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FAB7D"/>
                </a:solidFill>
              </a:rPr>
              <a:t>💻 Application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streamlit_app.py — dashboard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dirty="0">
                <a:solidFill>
                  <a:srgbClr val="444444"/>
                </a:solidFill>
              </a:rPr>
              <a:t>Power BI </a:t>
            </a:r>
            <a:r>
              <a:rPr lang="en-US" sz="1400" dirty="0">
                <a:solidFill>
                  <a:srgbClr val="444444"/>
                </a:solidFill>
              </a:rPr>
              <a:t>—</a:t>
            </a:r>
            <a:r>
              <a:rPr lang="en-US" dirty="0">
                <a:solidFill>
                  <a:srgbClr val="444444"/>
                </a:solidFill>
              </a:rPr>
              <a:t> dashboard</a:t>
            </a:r>
            <a:endParaRPr lang="en-US" sz="1400" dirty="0">
              <a:solidFill>
                <a:srgbClr val="444444"/>
              </a:solidFill>
            </a:endParaRP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Overview + EDA + Prediction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Dark professional UI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Real-time LightGBM inference</a:t>
            </a:r>
          </a:p>
        </p:txBody>
      </p:sp>
      <p:sp>
        <p:nvSpPr>
          <p:cNvPr id="114" name="card114"/>
          <p:cNvSpPr txBox="1">
            <a:spLocks noGrp="1"/>
          </p:cNvSpPr>
          <p:nvPr/>
        </p:nvSpPr>
        <p:spPr>
          <a:xfrm>
            <a:off x="4285800" y="3100000"/>
            <a:ext cx="3600000" cy="2000000"/>
          </a:xfrm>
          <a:prstGeom prst="roundRect">
            <a:avLst>
              <a:gd name="adj" fmla="val 3000"/>
            </a:avLst>
          </a:prstGeom>
          <a:solidFill>
            <a:srgbClr val="EBF7F2"/>
          </a:solidFill>
          <a:ln w="19050">
            <a:solidFill>
              <a:srgbClr val="047954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47954"/>
                </a:solidFill>
              </a:rPr>
              <a:t>🗄️ Database Files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schema.sql — table design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load_data.py — CSV to DB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5 SQL query files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customer_churn SQL Server DB</a:t>
            </a:r>
          </a:p>
        </p:txBody>
      </p:sp>
      <p:sp>
        <p:nvSpPr>
          <p:cNvPr id="115" name="card115"/>
          <p:cNvSpPr txBox="1">
            <a:spLocks noGrp="1"/>
          </p:cNvSpPr>
          <p:nvPr/>
        </p:nvSpPr>
        <p:spPr>
          <a:xfrm>
            <a:off x="8114400" y="3100000"/>
            <a:ext cx="3620400" cy="2000000"/>
          </a:xfrm>
          <a:prstGeom prst="roundRect">
            <a:avLst>
              <a:gd name="adj" fmla="val 3000"/>
            </a:avLst>
          </a:prstGeom>
          <a:solidFill>
            <a:srgbClr val="EBF0F7"/>
          </a:solidFill>
          <a:ln w="19050">
            <a:solidFill>
              <a:srgbClr val="336EA8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336EA8"/>
                </a:solidFill>
              </a:rPr>
              <a:t>📁 Project Files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README.md — full documentation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requirements.txt — dependencies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Structured folder organization</a:t>
            </a:r>
          </a:p>
        </p:txBody>
      </p:sp>
      <p:sp>
        <p:nvSpPr>
          <p:cNvPr id="116" name="tb116"/>
          <p:cNvSpPr txBox="1">
            <a:spLocks noGrp="1"/>
          </p:cNvSpPr>
          <p:nvPr/>
        </p:nvSpPr>
        <p:spPr>
          <a:xfrm>
            <a:off x="457200" y="5300000"/>
            <a:ext cx="112776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ctr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300" dirty="0">
                <a:solidFill>
                  <a:srgbClr val="666666"/>
                </a:solidFill>
              </a:rPr>
              <a:t>All deliverables submitted and organized under:  customer-churn-project/  with data/, notebooks/, database/, models/, app/, reports/ folders</a:t>
            </a:r>
          </a:p>
        </p:txBody>
      </p:sp>
      <p:sp>
        <p:nvSpPr>
          <p:cNvPr id="901" name="dt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r>
              <a:rPr lang="en-US" dirty="0"/>
              <a:t>July 2026</a:t>
            </a:r>
          </a:p>
        </p:txBody>
      </p:sp>
      <p:sp>
        <p:nvSpPr>
          <p:cNvPr id="902" name="sldNum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7C25846F-27A1-3E4F-9F28-E75DC4ECF04D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roo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cover_left_logo"/>
          <p:cNvSpPr>
            <a:spLocks noGrp="1"/>
          </p:cNvSpPr>
          <p:nvPr/>
        </p:nvSpPr>
        <p:spPr>
          <a:xfrm>
            <a:off x="0" y="0"/>
            <a:ext cx="2000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6" name="cover_right_logo"/>
          <p:cNvSpPr>
            <a:spLocks noGrp="1"/>
          </p:cNvSpPr>
          <p:nvPr/>
        </p:nvSpPr>
        <p:spPr>
          <a:xfrm>
            <a:off x="10600000" y="0"/>
            <a:ext cx="1600000" cy="1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9" name="logo_cover"/>
          <p:cNvSpPr>
            <a:spLocks noGrp="1"/>
          </p:cNvSpPr>
          <p:nvPr/>
        </p:nvSpPr>
        <p:spPr>
          <a:xfrm>
            <a:off x="0" y="685800"/>
            <a:ext cx="30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1" name="header_bar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txBody>
          <a:bodyPr wrap="square" lIns="457200" tIns="91440" anchor="ctr">
            <a:no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 Team + Roles</a:t>
            </a:r>
          </a:p>
        </p:txBody>
      </p:sp>
      <p:sp>
        <p:nvSpPr>
          <p:cNvPr id="121" name="card121"/>
          <p:cNvSpPr txBox="1">
            <a:spLocks noGrp="1"/>
          </p:cNvSpPr>
          <p:nvPr/>
        </p:nvSpPr>
        <p:spPr>
          <a:xfrm>
            <a:off x="1709751" y="1247080"/>
            <a:ext cx="4159261" cy="1469999"/>
          </a:xfrm>
          <a:prstGeom prst="roundRect">
            <a:avLst>
              <a:gd name="adj" fmla="val 3000"/>
            </a:avLst>
          </a:prstGeom>
          <a:solidFill>
            <a:srgbClr val="EBF7F2"/>
          </a:solidFill>
          <a:ln w="19050">
            <a:solidFill>
              <a:srgbClr val="047954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47954"/>
                </a:solidFill>
              </a:rPr>
              <a:t>🧹 Data Engineer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Omar Mahmoud Ramadan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ID: 21052575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Preprocessing, Encoding, Scaling, Pipeline</a:t>
            </a:r>
          </a:p>
        </p:txBody>
      </p:sp>
      <p:sp>
        <p:nvSpPr>
          <p:cNvPr id="122" name="card122"/>
          <p:cNvSpPr txBox="1">
            <a:spLocks noGrp="1"/>
          </p:cNvSpPr>
          <p:nvPr/>
        </p:nvSpPr>
        <p:spPr>
          <a:xfrm>
            <a:off x="6322989" y="1247080"/>
            <a:ext cx="4159261" cy="1462486"/>
          </a:xfrm>
          <a:prstGeom prst="roundRect">
            <a:avLst>
              <a:gd name="adj" fmla="val 3000"/>
            </a:avLst>
          </a:prstGeom>
          <a:solidFill>
            <a:srgbClr val="EBF0F7"/>
          </a:solidFill>
          <a:ln w="19050">
            <a:solidFill>
              <a:srgbClr val="336EA8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336EA8"/>
                </a:solidFill>
              </a:rPr>
              <a:t>🤖 Data Scientist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Hassan Ashraf Hassan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ID: 21004408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ML Models, Evaluation, Feature Importance</a:t>
            </a:r>
          </a:p>
        </p:txBody>
      </p:sp>
      <p:sp>
        <p:nvSpPr>
          <p:cNvPr id="123" name="card123"/>
          <p:cNvSpPr txBox="1">
            <a:spLocks noGrp="1"/>
          </p:cNvSpPr>
          <p:nvPr/>
        </p:nvSpPr>
        <p:spPr>
          <a:xfrm>
            <a:off x="6322989" y="3126519"/>
            <a:ext cx="4159261" cy="1470000"/>
          </a:xfrm>
          <a:prstGeom prst="roundRect">
            <a:avLst>
              <a:gd name="adj" fmla="val 3000"/>
            </a:avLst>
          </a:prstGeom>
          <a:solidFill>
            <a:srgbClr val="FFF8E6"/>
          </a:solidFill>
          <a:ln w="19050">
            <a:solidFill>
              <a:srgbClr val="D7B119"/>
            </a:solidFill>
          </a:ln>
        </p:spPr>
        <p:txBody>
          <a:bodyPr wrap="square" lIns="182880" tIns="182880" rIns="182880" bIns="9144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D7B119"/>
                </a:solidFill>
              </a:rPr>
              <a:t>🗄️ SQL Engineer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Mahmoud Ahmed </a:t>
            </a:r>
            <a:r>
              <a:rPr lang="en-US" sz="1400" dirty="0" err="1">
                <a:solidFill>
                  <a:srgbClr val="444444"/>
                </a:solidFill>
              </a:rPr>
              <a:t>Metwally</a:t>
            </a:r>
            <a:endParaRPr lang="en-US" sz="1400" dirty="0">
              <a:solidFill>
                <a:srgbClr val="444444"/>
              </a:solidFill>
            </a:endParaRP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ID: 21040864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Database Design, Queries, SQL Server</a:t>
            </a:r>
          </a:p>
        </p:txBody>
      </p:sp>
      <p:sp>
        <p:nvSpPr>
          <p:cNvPr id="124" name="card124"/>
          <p:cNvSpPr txBox="1">
            <a:spLocks noGrp="1"/>
          </p:cNvSpPr>
          <p:nvPr/>
        </p:nvSpPr>
        <p:spPr>
          <a:xfrm>
            <a:off x="1709750" y="3111861"/>
            <a:ext cx="4159261" cy="1469998"/>
          </a:xfrm>
          <a:prstGeom prst="roundRect">
            <a:avLst>
              <a:gd name="adj" fmla="val 3000"/>
            </a:avLst>
          </a:prstGeom>
          <a:solidFill>
            <a:srgbClr val="F0F5FB"/>
          </a:solidFill>
          <a:ln w="19050">
            <a:solidFill>
              <a:srgbClr val="0FAB7D"/>
            </a:solidFill>
          </a:ln>
        </p:spPr>
        <p:txBody>
          <a:bodyPr wrap="square" lIns="182880" tIns="182880" rIns="182880" bIns="91440" anchor="t"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FAB7D"/>
                </a:solidFill>
              </a:rPr>
              <a:t>📊 Data Analyst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Ahmed Moustafa Elsayed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ID: 21096982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EDA, Visualizations, </a:t>
            </a:r>
            <a:r>
              <a:rPr lang="en-US" sz="1400" dirty="0" err="1">
                <a:solidFill>
                  <a:srgbClr val="444444"/>
                </a:solidFill>
              </a:rPr>
              <a:t>Streamlit</a:t>
            </a:r>
            <a:r>
              <a:rPr lang="en-US" sz="1400" dirty="0">
                <a:solidFill>
                  <a:srgbClr val="444444"/>
                </a:solidFill>
              </a:rPr>
              <a:t> Dashboard, Prediction Interface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endParaRPr lang="en-US" sz="1400" dirty="0">
              <a:solidFill>
                <a:srgbClr val="444444"/>
              </a:solidFill>
            </a:endParaRPr>
          </a:p>
        </p:txBody>
      </p:sp>
      <p:sp>
        <p:nvSpPr>
          <p:cNvPr id="126" name="card126"/>
          <p:cNvSpPr txBox="1">
            <a:spLocks noGrp="1"/>
          </p:cNvSpPr>
          <p:nvPr/>
        </p:nvSpPr>
        <p:spPr>
          <a:xfrm>
            <a:off x="4339932" y="4722427"/>
            <a:ext cx="3512135" cy="1299048"/>
          </a:xfrm>
          <a:prstGeom prst="roundRect">
            <a:avLst>
              <a:gd name="adj" fmla="val 3000"/>
            </a:avLst>
          </a:prstGeom>
          <a:solidFill>
            <a:srgbClr val="EBF0F7"/>
          </a:solidFill>
          <a:ln w="19050">
            <a:solidFill>
              <a:srgbClr val="336EA8"/>
            </a:solidFill>
          </a:ln>
        </p:spPr>
        <p:txBody>
          <a:bodyPr wrap="square" lIns="182880" tIns="182880" rIns="182880" bIns="91440" anchor="t">
            <a:normAutofit fontScale="92500" lnSpcReduction="2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336EA8"/>
                </a:solidFill>
              </a:rPr>
              <a:t>🛠️ Collaboration Tools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VS Code — development IDE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Git — version control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Jupyter Notebooks — analysis</a:t>
            </a:r>
          </a:p>
          <a:p>
            <a:pPr marL="22860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</a:pPr>
            <a:r>
              <a:rPr lang="en-US" dirty="0">
                <a:solidFill>
                  <a:srgbClr val="444444"/>
                </a:solidFill>
              </a:rPr>
              <a:t>Discord</a:t>
            </a:r>
            <a:r>
              <a:rPr lang="en-US" sz="1400" dirty="0">
                <a:solidFill>
                  <a:srgbClr val="444444"/>
                </a:solidFill>
              </a:rPr>
              <a:t> — communication</a:t>
            </a:r>
          </a:p>
        </p:txBody>
      </p:sp>
      <p:sp>
        <p:nvSpPr>
          <p:cNvPr id="127" name="tb127"/>
          <p:cNvSpPr txBox="1">
            <a:spLocks noGrp="1"/>
          </p:cNvSpPr>
          <p:nvPr/>
        </p:nvSpPr>
        <p:spPr>
          <a:xfrm>
            <a:off x="421794" y="6021475"/>
            <a:ext cx="112776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ctr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666666"/>
                </a:solidFill>
              </a:rPr>
              <a:t>Methodology: Agile sprints  ·  Each member owns their deliverable  ·  Cross-team data handoffs  ·  Peer code review</a:t>
            </a:r>
          </a:p>
        </p:txBody>
      </p:sp>
      <p:sp>
        <p:nvSpPr>
          <p:cNvPr id="901" name="dt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r>
              <a:rPr lang="en-US" dirty="0"/>
              <a:t>July 2026</a:t>
            </a:r>
          </a:p>
        </p:txBody>
      </p:sp>
      <p:sp>
        <p:nvSpPr>
          <p:cNvPr id="902" name="sldNum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  <p:pic>
        <p:nvPicPr>
          <p:cNvPr id="4" name="Google Shape;110;p1">
            <a:extLst>
              <a:ext uri="{FF2B5EF4-FFF2-40B4-BE49-F238E27FC236}">
                <a16:creationId xmlns:a16="http://schemas.microsoft.com/office/drawing/2014/main" id="{A5C68B10-7AA1-EBC7-6D8E-51C59D6F7239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roo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bg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795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1" name="circle"/>
          <p:cNvSpPr>
            <a:spLocks noGrp="1"/>
          </p:cNvSpPr>
          <p:nvPr/>
        </p:nvSpPr>
        <p:spPr>
          <a:xfrm>
            <a:off x="4000000" y="800000"/>
            <a:ext cx="4192000" cy="4192000"/>
          </a:xfrm>
          <a:prstGeom prst="ellipse">
            <a:avLst/>
          </a:prstGeom>
          <a:solidFill>
            <a:srgbClr val="0FAB7D"/>
          </a:solidFill>
          <a:ln>
            <a:noFill/>
          </a:ln>
          <a:effectLst>
            <a:glow rad="200000">
              <a:srgbClr val="0FAB7D">
                <a:alpha val="4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32" name="tb132"/>
          <p:cNvSpPr txBox="1">
            <a:spLocks noGrp="1"/>
          </p:cNvSpPr>
          <p:nvPr/>
        </p:nvSpPr>
        <p:spPr>
          <a:xfrm>
            <a:off x="457200" y="1400000"/>
            <a:ext cx="11277600" cy="1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ctr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133" name="tb133"/>
          <p:cNvSpPr txBox="1">
            <a:spLocks noGrp="1"/>
          </p:cNvSpPr>
          <p:nvPr/>
        </p:nvSpPr>
        <p:spPr>
          <a:xfrm>
            <a:off x="457200" y="270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ctr">
              <a:lnSpc>
                <a:spcPct val="115000"/>
              </a:lnSpc>
              <a:spcBef>
                <a:spcPts val="200"/>
              </a:spcBef>
            </a:pPr>
            <a:r>
              <a:rPr lang="en-US" sz="1800" dirty="0">
                <a:solidFill>
                  <a:schemeClr val="bg1"/>
                </a:solidFill>
              </a:rPr>
              <a:t>Customer Churn Prediction — 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5aliha 3la Allah Team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buNone/>
            </a:pPr>
            <a:endParaRPr lang="en-US" sz="1800" dirty="0">
              <a:solidFill>
                <a:srgbClr val="D7F0E8"/>
              </a:solidFill>
            </a:endParaRPr>
          </a:p>
        </p:txBody>
      </p:sp>
      <p:sp>
        <p:nvSpPr>
          <p:cNvPr id="134" name="tb134"/>
          <p:cNvSpPr txBox="1">
            <a:spLocks noGrp="1"/>
          </p:cNvSpPr>
          <p:nvPr/>
        </p:nvSpPr>
        <p:spPr>
          <a:xfrm>
            <a:off x="457200" y="3500000"/>
            <a:ext cx="11277600" cy="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 lnSpcReduction="10000"/>
          </a:bodyPr>
          <a:lstStyle/>
          <a:p>
            <a:pPr algn="ctr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2000" b="1" dirty="0">
                <a:solidFill>
                  <a:srgbClr val="FFFFFF"/>
                </a:solidFill>
              </a:rPr>
              <a:t>Questions &amp; Feedback Welcome</a:t>
            </a:r>
          </a:p>
        </p:txBody>
      </p:sp>
      <p:sp>
        <p:nvSpPr>
          <p:cNvPr id="135" name="tb135"/>
          <p:cNvSpPr txBox="1">
            <a:spLocks noGrp="1"/>
          </p:cNvSpPr>
          <p:nvPr/>
        </p:nvSpPr>
        <p:spPr>
          <a:xfrm>
            <a:off x="457200" y="4200000"/>
            <a:ext cx="11277600" cy="1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ctr">
              <a:lnSpc>
                <a:spcPct val="115000"/>
              </a:lnSpc>
              <a:spcBef>
                <a:spcPts val="200"/>
              </a:spcBef>
              <a:buNone/>
            </a:pPr>
            <a:endParaRPr lang="en-US" sz="1400" dirty="0">
              <a:solidFill>
                <a:srgbClr val="D7F0E8"/>
              </a:solidFill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FFFFFF"/>
                </a:solidFill>
              </a:rPr>
              <a:t> 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400" dirty="0">
                <a:solidFill>
                  <a:srgbClr val="D7F0E8"/>
                </a:solidFill>
              </a:rPr>
              <a:t>DEPI Final Project  |  AI &amp; Data science Track Microsoft Data </a:t>
            </a:r>
            <a:r>
              <a:rPr lang="en-US" dirty="0">
                <a:solidFill>
                  <a:srgbClr val="D7F0E8"/>
                </a:solidFill>
              </a:rPr>
              <a:t>E</a:t>
            </a:r>
            <a:r>
              <a:rPr lang="en-US" sz="1400" dirty="0">
                <a:solidFill>
                  <a:srgbClr val="D7F0E8"/>
                </a:solidFill>
              </a:rPr>
              <a:t>ngineering | 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1042</Words>
  <Application>Microsoft Office PowerPoint</Application>
  <PresentationFormat>Widescreen</PresentationFormat>
  <Paragraphs>228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Live at: Streamlit 3 interactive pages — Overview, EDA, Prediction  Real-time LightGBM predictions  Custom dark professional UI  Tested on 200,000 customers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lastModifiedBy>Omar Mahmoud Ramadan</cp:lastModifiedBy>
  <cp:revision>11</cp:revision>
  <dcterms:created xsi:type="dcterms:W3CDTF">2024-03-14T10:03:54Z</dcterms:created>
  <dcterms:modified xsi:type="dcterms:W3CDTF">2026-07-08T22:22:41Z</dcterms:modified>
</cp:coreProperties>
</file>